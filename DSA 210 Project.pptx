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eague Spartan" charset="1" panose="00000800000000000000"/>
      <p:regular r:id="rId24"/>
    </p:embeddedFont>
    <p:embeddedFont>
      <p:font typeface="Glacial Indifference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30290"/>
            <a:ext cx="3426420" cy="3426420"/>
          </a:xfrm>
          <a:custGeom>
            <a:avLst/>
            <a:gdLst/>
            <a:ahLst/>
            <a:cxnLst/>
            <a:rect r="r" b="b" t="t" l="l"/>
            <a:pathLst>
              <a:path h="3426420" w="3426420">
                <a:moveTo>
                  <a:pt x="0" y="0"/>
                </a:moveTo>
                <a:lnTo>
                  <a:pt x="3426420" y="0"/>
                </a:lnTo>
                <a:lnTo>
                  <a:pt x="3426420" y="3426420"/>
                </a:lnTo>
                <a:lnTo>
                  <a:pt x="0" y="3426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861580" y="3430290"/>
            <a:ext cx="3426420" cy="3426420"/>
          </a:xfrm>
          <a:custGeom>
            <a:avLst/>
            <a:gdLst/>
            <a:ahLst/>
            <a:cxnLst/>
            <a:rect r="r" b="b" t="t" l="l"/>
            <a:pathLst>
              <a:path h="3426420" w="3426420">
                <a:moveTo>
                  <a:pt x="3426420" y="0"/>
                </a:moveTo>
                <a:lnTo>
                  <a:pt x="0" y="0"/>
                </a:lnTo>
                <a:lnTo>
                  <a:pt x="0" y="3426420"/>
                </a:lnTo>
                <a:lnTo>
                  <a:pt x="3426420" y="3426420"/>
                </a:lnTo>
                <a:lnTo>
                  <a:pt x="3426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26343" y="2355508"/>
            <a:ext cx="9035315" cy="278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1"/>
              </a:lnSpc>
            </a:pPr>
            <a:r>
              <a:rPr lang="en-US" sz="16236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DSA 210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40791" y="7007118"/>
            <a:ext cx="9412213" cy="120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6"/>
              </a:lnSpc>
            </a:pPr>
            <a:r>
              <a:rPr lang="en-US" sz="3433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Subject: Travel Tim</a:t>
            </a:r>
            <a:r>
              <a:rPr lang="en-US" sz="3433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Prediction and Traffic Analysis Using Machine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7466" y="4398900"/>
            <a:ext cx="9553068" cy="278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1"/>
              </a:lnSpc>
            </a:pPr>
            <a:r>
              <a:rPr lang="en-US" sz="16236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475186" y="90288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75186" y="7992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67466" y="8387127"/>
            <a:ext cx="941221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-Göksu Arslan 31207-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1377" y="1638008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18780" y="3282061"/>
            <a:ext cx="11650441" cy="364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1"/>
              </a:lnSpc>
            </a:pPr>
            <a:r>
              <a:rPr lang="en-US" sz="342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main motivation of this proj</a:t>
            </a:r>
            <a:r>
              <a:rPr lang="en-US" sz="342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ect is to analyze how different traffic-related factors influence travel duration and to evaluate the accuracy of estimated travel times using real-life driving data. In addition, the project aims to predict travel duration using basic machine learning models and data science techniques.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1377" y="1637974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Collection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5400000">
            <a:off x="15159856" y="7158856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3128144" y="0"/>
                </a:moveTo>
                <a:lnTo>
                  <a:pt x="0" y="0"/>
                </a:lnTo>
                <a:lnTo>
                  <a:pt x="0" y="3128144"/>
                </a:lnTo>
                <a:lnTo>
                  <a:pt x="3128144" y="3128144"/>
                </a:lnTo>
                <a:lnTo>
                  <a:pt x="3128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150497" y="3460346"/>
            <a:ext cx="11987005" cy="3879850"/>
            <a:chOff x="0" y="0"/>
            <a:chExt cx="15982674" cy="51731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8334798" cy="5220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Coll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ection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collected between April 1 – April 14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Trips made by:</a:t>
              </a:r>
            </a:p>
            <a:p>
              <a:pPr algn="l" marL="1079499" indent="-359833" lvl="2">
                <a:lnSpc>
                  <a:spcPts val="3499"/>
                </a:lnSpc>
                <a:buFont typeface="Arial"/>
                <a:buChar char="⚬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Author</a:t>
              </a:r>
            </a:p>
            <a:p>
              <a:pPr algn="l" marL="1079499" indent="-359833" lvl="2">
                <a:lnSpc>
                  <a:spcPts val="3499"/>
                </a:lnSpc>
                <a:buFont typeface="Arial"/>
                <a:buChar char="⚬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Family members</a:t>
              </a:r>
            </a:p>
            <a:p>
              <a:pPr algn="l" marL="1079499" indent="-359833" lvl="2">
                <a:lnSpc>
                  <a:spcPts val="3499"/>
                </a:lnSpc>
                <a:buFont typeface="Arial"/>
                <a:buChar char="⚬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Friends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Dataset size:</a:t>
              </a:r>
            </a:p>
            <a:p>
              <a:pPr algn="l" marL="1079499" indent="-359833" lvl="2">
                <a:lnSpc>
                  <a:spcPts val="3499"/>
                </a:lnSpc>
                <a:buFont typeface="Arial"/>
                <a:buChar char="⚬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127 observations</a:t>
              </a:r>
            </a:p>
            <a:p>
              <a:pPr algn="l">
                <a:lnSpc>
                  <a:spcPts val="349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8940486" y="-47625"/>
              <a:ext cx="7042187" cy="5220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Recorded Variable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Departure &amp; arrival times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Actual travel duration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Estimated travel duration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Distance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Traffic level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Number of traffic lights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Rush hour information</a:t>
              </a:r>
            </a:p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400000">
            <a:off x="0" y="0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0" y="0"/>
                </a:moveTo>
                <a:lnTo>
                  <a:pt x="3128144" y="0"/>
                </a:lnTo>
                <a:lnTo>
                  <a:pt x="3128144" y="3128144"/>
                </a:lnTo>
                <a:lnTo>
                  <a:pt x="0" y="312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358179" y="91042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9" y="0"/>
                </a:lnTo>
                <a:lnTo>
                  <a:pt x="2241439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5603209" y="8746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8" y="0"/>
                </a:lnTo>
                <a:lnTo>
                  <a:pt x="2241438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94447" y="6812314"/>
            <a:ext cx="12699107" cy="3168914"/>
            <a:chOff x="0" y="0"/>
            <a:chExt cx="16932143" cy="4225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89789" cy="4225219"/>
            </a:xfrm>
            <a:custGeom>
              <a:avLst/>
              <a:gdLst/>
              <a:ahLst/>
              <a:cxnLst/>
              <a:rect r="r" b="b" t="t" l="l"/>
              <a:pathLst>
                <a:path h="4225219" w="5289789">
                  <a:moveTo>
                    <a:pt x="0" y="0"/>
                  </a:moveTo>
                  <a:lnTo>
                    <a:pt x="5289789" y="0"/>
                  </a:lnTo>
                  <a:lnTo>
                    <a:pt x="5289789" y="4225219"/>
                  </a:lnTo>
                  <a:lnTo>
                    <a:pt x="0" y="422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617402" y="0"/>
              <a:ext cx="5314741" cy="4225219"/>
            </a:xfrm>
            <a:custGeom>
              <a:avLst/>
              <a:gdLst/>
              <a:ahLst/>
              <a:cxnLst/>
              <a:rect r="r" b="b" t="t" l="l"/>
              <a:pathLst>
                <a:path h="4225219" w="5314741">
                  <a:moveTo>
                    <a:pt x="0" y="0"/>
                  </a:moveTo>
                  <a:lnTo>
                    <a:pt x="5314741" y="0"/>
                  </a:lnTo>
                  <a:lnTo>
                    <a:pt x="5314741" y="4225219"/>
                  </a:lnTo>
                  <a:lnTo>
                    <a:pt x="0" y="422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727648" y="0"/>
              <a:ext cx="5451895" cy="4225219"/>
            </a:xfrm>
            <a:custGeom>
              <a:avLst/>
              <a:gdLst/>
              <a:ahLst/>
              <a:cxnLst/>
              <a:rect r="r" b="b" t="t" l="l"/>
              <a:pathLst>
                <a:path h="4225219" w="5451895">
                  <a:moveTo>
                    <a:pt x="0" y="0"/>
                  </a:moveTo>
                  <a:lnTo>
                    <a:pt x="5451895" y="0"/>
                  </a:lnTo>
                  <a:lnTo>
                    <a:pt x="5451895" y="4225219"/>
                  </a:lnTo>
                  <a:lnTo>
                    <a:pt x="0" y="422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01377" y="192966"/>
            <a:ext cx="10885246" cy="259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Exploratory Data Analysis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869658" y="2786616"/>
            <a:ext cx="10885301" cy="4178300"/>
            <a:chOff x="0" y="0"/>
            <a:chExt cx="14513735" cy="55710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7042187" cy="4688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Prepro</a:t>
              </a: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cessing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Converted time variables into datetime format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Standardized travel durations into minutes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Created additional variables:</a:t>
              </a:r>
            </a:p>
            <a:p>
              <a:pPr algn="l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Delay</a:t>
              </a:r>
            </a:p>
            <a:p>
              <a:pPr algn="l" marL="863601" indent="-287867" lvl="2">
                <a:lnSpc>
                  <a:spcPts val="2800"/>
                </a:lnSpc>
                <a:buFont typeface="Arial"/>
                <a:buChar char="⚬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Rush hour indicator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Removed inconsistencies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Final dataset contained no missing values</a:t>
              </a:r>
            </a:p>
            <a:p>
              <a:pPr algn="l">
                <a:lnSpc>
                  <a:spcPts val="2800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117853" y="-57150"/>
              <a:ext cx="6395882" cy="5628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Exploratory Data A</a:t>
              </a: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nalysis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Applied Analysis Techniques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Histogram analysis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Scatter plots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Boxplots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Correlation analysis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Traffic-level comparisons</a:t>
              </a:r>
            </a:p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Main Objective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Understand data distributions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Identify relationships between variables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Detect travel patterns</a:t>
              </a:r>
            </a:p>
            <a:p>
              <a:pPr algn="l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1377" y="1637974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Hypothesis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01377" y="5165321"/>
            <a:ext cx="5281641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 did 5 different hypothesis tests for a better understanding of traffic components.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5400000">
            <a:off x="15159856" y="7158856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3128144" y="0"/>
                </a:moveTo>
                <a:lnTo>
                  <a:pt x="0" y="0"/>
                </a:lnTo>
                <a:lnTo>
                  <a:pt x="0" y="3128144"/>
                </a:lnTo>
                <a:lnTo>
                  <a:pt x="3128144" y="3128144"/>
                </a:lnTo>
                <a:lnTo>
                  <a:pt x="3128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04983" y="3631796"/>
            <a:ext cx="5281641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Independent T-Test. Ru</a:t>
            </a: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 hour vs non-rush hour effects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ANOVA Test: Traffic level differences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Paired T-Test: Estimated vs actual travel durations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Pearson Correlation Test: Correlation between distance and travel duration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One-Sample T-Test: Delay behavior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400000">
            <a:off x="0" y="0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0" y="0"/>
                </a:moveTo>
                <a:lnTo>
                  <a:pt x="3128144" y="0"/>
                </a:lnTo>
                <a:lnTo>
                  <a:pt x="3128144" y="3128144"/>
                </a:lnTo>
                <a:lnTo>
                  <a:pt x="0" y="312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358179" y="91042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9" y="0"/>
                </a:lnTo>
                <a:lnTo>
                  <a:pt x="2241439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5603209" y="8746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8" y="0"/>
                </a:lnTo>
                <a:lnTo>
                  <a:pt x="2241438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2451" y="3908542"/>
            <a:ext cx="11301259" cy="1483290"/>
          </a:xfrm>
          <a:custGeom>
            <a:avLst/>
            <a:gdLst/>
            <a:ahLst/>
            <a:cxnLst/>
            <a:rect r="r" b="b" t="t" l="l"/>
            <a:pathLst>
              <a:path h="1483290" w="11301259">
                <a:moveTo>
                  <a:pt x="0" y="0"/>
                </a:moveTo>
                <a:lnTo>
                  <a:pt x="11301259" y="0"/>
                </a:lnTo>
                <a:lnTo>
                  <a:pt x="11301259" y="1483290"/>
                </a:lnTo>
                <a:lnTo>
                  <a:pt x="0" y="1483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01377" y="1753036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Independent T-Test.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91539" y="3003667"/>
            <a:ext cx="568308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Rush ho</a:t>
            </a:r>
            <a:r>
              <a:rPr lang="en-US" sz="29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 vs non-rush hour effects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60836" y="5748094"/>
            <a:ext cx="974449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p-value was greater than 0.05, l</a:t>
            </a: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eading to a failure to reject the null hypothesis. </a:t>
            </a:r>
          </a:p>
          <a:p>
            <a:pPr algn="just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indicates that rush hour does not have a statistically significant effect on travel duration in this dataset.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01377" y="1783006"/>
            <a:ext cx="10885246" cy="126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ANOVA Test: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02458" y="2994605"/>
            <a:ext cx="568308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9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raffic level differences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60836" y="5742869"/>
            <a:ext cx="974449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p-value was less than 0.05, l</a:t>
            </a: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eading to rejection of the null hypothesis. </a:t>
            </a:r>
          </a:p>
          <a:p>
            <a:pPr algn="ctr">
              <a:lnSpc>
                <a:spcPts val="3499"/>
              </a:lnSpc>
            </a:pP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shows that traffic level has a statistically significant impact on travel duration.</a:t>
            </a:r>
          </a:p>
          <a:p>
            <a:pPr algn="ctr">
              <a:lnSpc>
                <a:spcPts val="349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025922" y="3989092"/>
            <a:ext cx="10560701" cy="1073620"/>
          </a:xfrm>
          <a:custGeom>
            <a:avLst/>
            <a:gdLst/>
            <a:ahLst/>
            <a:cxnLst/>
            <a:rect r="r" b="b" t="t" l="l"/>
            <a:pathLst>
              <a:path h="1073620" w="10560701">
                <a:moveTo>
                  <a:pt x="0" y="0"/>
                </a:moveTo>
                <a:lnTo>
                  <a:pt x="10560701" y="0"/>
                </a:lnTo>
                <a:lnTo>
                  <a:pt x="10560701" y="1073620"/>
                </a:lnTo>
                <a:lnTo>
                  <a:pt x="0" y="1073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012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34138" y="1925881"/>
            <a:ext cx="10885246" cy="6953888"/>
            <a:chOff x="0" y="0"/>
            <a:chExt cx="14513662" cy="92718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42875"/>
              <a:ext cx="14513662" cy="1644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93"/>
                </a:lnSpc>
              </a:pPr>
              <a:r>
                <a:rPr lang="en-US" sz="7424">
                  <a:solidFill>
                    <a:srgbClr val="C2352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Paired T-Test: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876534" y="1444015"/>
              <a:ext cx="8313516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Estimated</a:t>
              </a:r>
              <a:r>
                <a:rPr lang="en-US" sz="29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vs actual travel durations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8930" y="5803692"/>
              <a:ext cx="12992654" cy="3468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test resulted in a p-value greater than 0.05, in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dicating no statistically significant difference between estimated and actual travel times. 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This suggests that Google Maps estimates are generally accurate.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734138" y="4213349"/>
            <a:ext cx="10885246" cy="1483290"/>
          </a:xfrm>
          <a:custGeom>
            <a:avLst/>
            <a:gdLst/>
            <a:ahLst/>
            <a:cxnLst/>
            <a:rect r="r" b="b" t="t" l="l"/>
            <a:pathLst>
              <a:path h="1483290" w="10885246">
                <a:moveTo>
                  <a:pt x="0" y="0"/>
                </a:moveTo>
                <a:lnTo>
                  <a:pt x="10885246" y="0"/>
                </a:lnTo>
                <a:lnTo>
                  <a:pt x="10885246" y="1483290"/>
                </a:lnTo>
                <a:lnTo>
                  <a:pt x="0" y="1483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82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3727608"/>
            <a:ext cx="11301259" cy="1087746"/>
          </a:xfrm>
          <a:custGeom>
            <a:avLst/>
            <a:gdLst/>
            <a:ahLst/>
            <a:cxnLst/>
            <a:rect r="r" b="b" t="t" l="l"/>
            <a:pathLst>
              <a:path h="1087746" w="11301259">
                <a:moveTo>
                  <a:pt x="0" y="0"/>
                </a:moveTo>
                <a:lnTo>
                  <a:pt x="11301258" y="0"/>
                </a:lnTo>
                <a:lnTo>
                  <a:pt x="11301258" y="1087746"/>
                </a:lnTo>
                <a:lnTo>
                  <a:pt x="0" y="10877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4943616"/>
            <a:ext cx="11301259" cy="1087746"/>
          </a:xfrm>
          <a:custGeom>
            <a:avLst/>
            <a:gdLst/>
            <a:ahLst/>
            <a:cxnLst/>
            <a:rect r="r" b="b" t="t" l="l"/>
            <a:pathLst>
              <a:path h="1087746" w="11301259">
                <a:moveTo>
                  <a:pt x="0" y="0"/>
                </a:moveTo>
                <a:lnTo>
                  <a:pt x="11301258" y="0"/>
                </a:lnTo>
                <a:lnTo>
                  <a:pt x="11301258" y="1087746"/>
                </a:lnTo>
                <a:lnTo>
                  <a:pt x="0" y="10877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84792" y="1753036"/>
            <a:ext cx="12918415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Pearson Correlation Tests: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23312" y="2969860"/>
            <a:ext cx="824137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</a:t>
            </a:r>
            <a:r>
              <a:rPr lang="en-US" sz="29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relation between distance and travel duration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71755" y="6240912"/>
            <a:ext cx="974449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Distance showed a statistically significant strong rel</a:t>
            </a: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ationship with travel duration (p &lt; 0.05), while the number of traffic lights also showed a statistically significant but weaker relationship.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84996" y="2451004"/>
            <a:ext cx="10918007" cy="5107323"/>
            <a:chOff x="0" y="0"/>
            <a:chExt cx="14557343" cy="68097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42875"/>
              <a:ext cx="14513662" cy="1651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93"/>
                </a:lnSpc>
              </a:pPr>
              <a:r>
                <a:rPr lang="en-US" sz="7424">
                  <a:solidFill>
                    <a:srgbClr val="C2352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One-Sample T-Test: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468108" y="1450982"/>
              <a:ext cx="7577446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Delay beha</a:t>
              </a:r>
              <a:r>
                <a:rPr lang="en-US" sz="29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vior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60504" y="5094206"/>
              <a:ext cx="12992654" cy="1715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average delay was not significantly 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different from zero, further supporting the reliability of estimated travel times.</a:t>
              </a:r>
            </a:p>
            <a:p>
              <a:pPr algn="just">
                <a:lnSpc>
                  <a:spcPts val="3499"/>
                </a:lnSpc>
              </a:pP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43681" y="2613805"/>
              <a:ext cx="14513662" cy="1676353"/>
            </a:xfrm>
            <a:custGeom>
              <a:avLst/>
              <a:gdLst/>
              <a:ahLst/>
              <a:cxnLst/>
              <a:rect r="r" b="b" t="t" l="l"/>
              <a:pathLst>
                <a:path h="1676353" w="14513662">
                  <a:moveTo>
                    <a:pt x="0" y="0"/>
                  </a:moveTo>
                  <a:lnTo>
                    <a:pt x="14513662" y="0"/>
                  </a:lnTo>
                  <a:lnTo>
                    <a:pt x="14513662" y="1676354"/>
                  </a:lnTo>
                  <a:lnTo>
                    <a:pt x="0" y="1676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82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5159856" y="7158856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3128144" y="0"/>
                </a:moveTo>
                <a:lnTo>
                  <a:pt x="0" y="0"/>
                </a:lnTo>
                <a:lnTo>
                  <a:pt x="0" y="3128144"/>
                </a:lnTo>
                <a:lnTo>
                  <a:pt x="3128144" y="3128144"/>
                </a:lnTo>
                <a:lnTo>
                  <a:pt x="3128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0" y="0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0" y="0"/>
                </a:moveTo>
                <a:lnTo>
                  <a:pt x="3128144" y="0"/>
                </a:lnTo>
                <a:lnTo>
                  <a:pt x="3128144" y="3128144"/>
                </a:lnTo>
                <a:lnTo>
                  <a:pt x="0" y="312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358179" y="91042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9" y="0"/>
                </a:lnTo>
                <a:lnTo>
                  <a:pt x="2241439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603209" y="8746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8" y="0"/>
                </a:lnTo>
                <a:lnTo>
                  <a:pt x="2241438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99618" y="2454496"/>
            <a:ext cx="14404624" cy="5378007"/>
            <a:chOff x="0" y="0"/>
            <a:chExt cx="19206165" cy="717067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469012" y="-142875"/>
              <a:ext cx="14513662" cy="3410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93"/>
                </a:lnSpc>
              </a:pPr>
              <a:r>
                <a:rPr lang="en-US" sz="7424">
                  <a:solidFill>
                    <a:srgbClr val="C2352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Machine Learning Integration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702518"/>
              <a:ext cx="7042187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Impleme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nted Models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Linear Regression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Random Forest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K-Nearest Neighbors (KNN)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Decision Tree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485135" y="3702518"/>
              <a:ext cx="7042187" cy="22997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 Eval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uation Metrics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MAE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RMSE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R² Score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2163977" y="3702518"/>
              <a:ext cx="7042187" cy="3468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Features Used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Distance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Traffic level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Estimated duration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Number of traffic lights</a:t>
              </a:r>
            </a:p>
            <a:p>
              <a:pPr algn="just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Rush hour information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57458" y="2385276"/>
            <a:ext cx="11373085" cy="1395126"/>
          </a:xfrm>
          <a:custGeom>
            <a:avLst/>
            <a:gdLst/>
            <a:ahLst/>
            <a:cxnLst/>
            <a:rect r="r" b="b" t="t" l="l"/>
            <a:pathLst>
              <a:path h="1395126" w="11373085">
                <a:moveTo>
                  <a:pt x="0" y="0"/>
                </a:moveTo>
                <a:lnTo>
                  <a:pt x="11373084" y="0"/>
                </a:lnTo>
                <a:lnTo>
                  <a:pt x="11373084" y="1395126"/>
                </a:lnTo>
                <a:lnTo>
                  <a:pt x="0" y="1395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5717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2682" y="4023057"/>
            <a:ext cx="6922635" cy="5235243"/>
          </a:xfrm>
          <a:custGeom>
            <a:avLst/>
            <a:gdLst/>
            <a:ahLst/>
            <a:cxnLst/>
            <a:rect r="r" b="b" t="t" l="l"/>
            <a:pathLst>
              <a:path h="5235243" w="6922635">
                <a:moveTo>
                  <a:pt x="0" y="0"/>
                </a:moveTo>
                <a:lnTo>
                  <a:pt x="6922636" y="0"/>
                </a:lnTo>
                <a:lnTo>
                  <a:pt x="6922636" y="5235243"/>
                </a:lnTo>
                <a:lnTo>
                  <a:pt x="0" y="5235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01377" y="868647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Linear Regression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82682" y="3923929"/>
            <a:ext cx="6922635" cy="5235243"/>
          </a:xfrm>
          <a:custGeom>
            <a:avLst/>
            <a:gdLst/>
            <a:ahLst/>
            <a:cxnLst/>
            <a:rect r="r" b="b" t="t" l="l"/>
            <a:pathLst>
              <a:path h="5235243" w="6922635">
                <a:moveTo>
                  <a:pt x="0" y="0"/>
                </a:moveTo>
                <a:lnTo>
                  <a:pt x="6922636" y="0"/>
                </a:lnTo>
                <a:lnTo>
                  <a:pt x="6922636" y="5235243"/>
                </a:lnTo>
                <a:lnTo>
                  <a:pt x="0" y="5235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2258928"/>
            <a:ext cx="11301259" cy="1356151"/>
          </a:xfrm>
          <a:custGeom>
            <a:avLst/>
            <a:gdLst/>
            <a:ahLst/>
            <a:cxnLst/>
            <a:rect r="r" b="b" t="t" l="l"/>
            <a:pathLst>
              <a:path h="1356151" w="11301259">
                <a:moveTo>
                  <a:pt x="0" y="0"/>
                </a:moveTo>
                <a:lnTo>
                  <a:pt x="11301258" y="0"/>
                </a:lnTo>
                <a:lnTo>
                  <a:pt x="11301258" y="1356151"/>
                </a:lnTo>
                <a:lnTo>
                  <a:pt x="0" y="13561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01377" y="984953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Random Forest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2227798"/>
            <a:ext cx="11301259" cy="1440911"/>
          </a:xfrm>
          <a:custGeom>
            <a:avLst/>
            <a:gdLst/>
            <a:ahLst/>
            <a:cxnLst/>
            <a:rect r="r" b="b" t="t" l="l"/>
            <a:pathLst>
              <a:path h="1440911" w="11301259">
                <a:moveTo>
                  <a:pt x="0" y="0"/>
                </a:moveTo>
                <a:lnTo>
                  <a:pt x="11301258" y="0"/>
                </a:lnTo>
                <a:lnTo>
                  <a:pt x="11301258" y="1440911"/>
                </a:lnTo>
                <a:lnTo>
                  <a:pt x="0" y="1440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83222" y="3908231"/>
            <a:ext cx="7121556" cy="5350069"/>
          </a:xfrm>
          <a:custGeom>
            <a:avLst/>
            <a:gdLst/>
            <a:ahLst/>
            <a:cxnLst/>
            <a:rect r="r" b="b" t="t" l="l"/>
            <a:pathLst>
              <a:path h="5350069" w="7121556">
                <a:moveTo>
                  <a:pt x="0" y="0"/>
                </a:moveTo>
                <a:lnTo>
                  <a:pt x="7121556" y="0"/>
                </a:lnTo>
                <a:lnTo>
                  <a:pt x="7121556" y="5350069"/>
                </a:lnTo>
                <a:lnTo>
                  <a:pt x="0" y="5350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52280" y="953824"/>
            <a:ext cx="11383440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K-Nearest Neighbours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13074" y="6584834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43674" y="2096356"/>
            <a:ext cx="1631253" cy="1631253"/>
          </a:xfrm>
          <a:custGeom>
            <a:avLst/>
            <a:gdLst/>
            <a:ahLst/>
            <a:cxnLst/>
            <a:rect r="r" b="b" t="t" l="l"/>
            <a:pathLst>
              <a:path h="1631253" w="1631253">
                <a:moveTo>
                  <a:pt x="1631252" y="0"/>
                </a:moveTo>
                <a:lnTo>
                  <a:pt x="0" y="0"/>
                </a:lnTo>
                <a:lnTo>
                  <a:pt x="0" y="1631252"/>
                </a:lnTo>
                <a:lnTo>
                  <a:pt x="1631252" y="1631252"/>
                </a:lnTo>
                <a:lnTo>
                  <a:pt x="1631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590486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640114" y="49140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80273" y="4293158"/>
            <a:ext cx="6527453" cy="4903749"/>
          </a:xfrm>
          <a:custGeom>
            <a:avLst/>
            <a:gdLst/>
            <a:ahLst/>
            <a:cxnLst/>
            <a:rect r="r" b="b" t="t" l="l"/>
            <a:pathLst>
              <a:path h="4903749" w="6527453">
                <a:moveTo>
                  <a:pt x="0" y="0"/>
                </a:moveTo>
                <a:lnTo>
                  <a:pt x="6527454" y="0"/>
                </a:lnTo>
                <a:lnTo>
                  <a:pt x="6527454" y="4903749"/>
                </a:lnTo>
                <a:lnTo>
                  <a:pt x="0" y="4903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2282853"/>
            <a:ext cx="11301259" cy="1412657"/>
          </a:xfrm>
          <a:custGeom>
            <a:avLst/>
            <a:gdLst/>
            <a:ahLst/>
            <a:cxnLst/>
            <a:rect r="r" b="b" t="t" l="l"/>
            <a:pathLst>
              <a:path h="1412657" w="11301259">
                <a:moveTo>
                  <a:pt x="0" y="0"/>
                </a:moveTo>
                <a:lnTo>
                  <a:pt x="11301258" y="0"/>
                </a:lnTo>
                <a:lnTo>
                  <a:pt x="11301258" y="1412657"/>
                </a:lnTo>
                <a:lnTo>
                  <a:pt x="0" y="1412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01377" y="885825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Decision Tree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1377" y="628915"/>
            <a:ext cx="10885246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8977" y="1976447"/>
            <a:ext cx="11610047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Distance </a:t>
            </a: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showed a strong positive relationship with travel duration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Google Maps estimations were highly reliable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Traffic level significantly affected travel duration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Rush hour alone was not statistically significant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Medium and high traffic conditions increased travel duration noticeably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Number of traffic lights showed only a weak relationship with travel duration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Travel duration can be predicted successfully using simple transportation-related variables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Linear Regression achieved the best overall performance: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R² Score: 0.914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MAE: 5.46 minutes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C235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RMSE: 7.76 minutes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5400000">
            <a:off x="15159856" y="7158856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3128144" y="0"/>
                </a:moveTo>
                <a:lnTo>
                  <a:pt x="0" y="0"/>
                </a:lnTo>
                <a:lnTo>
                  <a:pt x="0" y="3128144"/>
                </a:lnTo>
                <a:lnTo>
                  <a:pt x="3128144" y="3128144"/>
                </a:lnTo>
                <a:lnTo>
                  <a:pt x="3128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0" y="0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0" y="0"/>
                </a:moveTo>
                <a:lnTo>
                  <a:pt x="3128144" y="0"/>
                </a:lnTo>
                <a:lnTo>
                  <a:pt x="3128144" y="3128144"/>
                </a:lnTo>
                <a:lnTo>
                  <a:pt x="0" y="312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358179" y="91042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9" y="0"/>
                </a:lnTo>
                <a:lnTo>
                  <a:pt x="2241439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603209" y="8746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8" y="0"/>
                </a:lnTo>
                <a:lnTo>
                  <a:pt x="2241438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07246" y="7343053"/>
            <a:ext cx="7144982" cy="2759749"/>
          </a:xfrm>
          <a:custGeom>
            <a:avLst/>
            <a:gdLst/>
            <a:ahLst/>
            <a:cxnLst/>
            <a:rect r="r" b="b" t="t" l="l"/>
            <a:pathLst>
              <a:path h="2759749" w="7144982">
                <a:moveTo>
                  <a:pt x="0" y="0"/>
                </a:moveTo>
                <a:lnTo>
                  <a:pt x="7144982" y="0"/>
                </a:lnTo>
                <a:lnTo>
                  <a:pt x="7144982" y="2759750"/>
                </a:lnTo>
                <a:lnTo>
                  <a:pt x="0" y="2759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2724" y="2985269"/>
            <a:ext cx="13022551" cy="127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3"/>
              </a:lnSpc>
            </a:pPr>
            <a:r>
              <a:rPr lang="en-US" sz="7424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&amp; Future Work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5400000">
            <a:off x="15159856" y="7158856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3128144" y="0"/>
                </a:moveTo>
                <a:lnTo>
                  <a:pt x="0" y="0"/>
                </a:lnTo>
                <a:lnTo>
                  <a:pt x="0" y="3128144"/>
                </a:lnTo>
                <a:lnTo>
                  <a:pt x="3128144" y="3128144"/>
                </a:lnTo>
                <a:lnTo>
                  <a:pt x="31281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0" y="0"/>
            <a:ext cx="3128144" cy="3128144"/>
          </a:xfrm>
          <a:custGeom>
            <a:avLst/>
            <a:gdLst/>
            <a:ahLst/>
            <a:cxnLst/>
            <a:rect r="r" b="b" t="t" l="l"/>
            <a:pathLst>
              <a:path h="3128144" w="3128144">
                <a:moveTo>
                  <a:pt x="0" y="0"/>
                </a:moveTo>
                <a:lnTo>
                  <a:pt x="3128144" y="0"/>
                </a:lnTo>
                <a:lnTo>
                  <a:pt x="3128144" y="3128144"/>
                </a:lnTo>
                <a:lnTo>
                  <a:pt x="0" y="3128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358179" y="91042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9" y="0"/>
                </a:lnTo>
                <a:lnTo>
                  <a:pt x="2241439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603209" y="874601"/>
            <a:ext cx="2241439" cy="308198"/>
          </a:xfrm>
          <a:custGeom>
            <a:avLst/>
            <a:gdLst/>
            <a:ahLst/>
            <a:cxnLst/>
            <a:rect r="r" b="b" t="t" l="l"/>
            <a:pathLst>
              <a:path h="308198" w="2241439">
                <a:moveTo>
                  <a:pt x="0" y="0"/>
                </a:moveTo>
                <a:lnTo>
                  <a:pt x="2241438" y="0"/>
                </a:lnTo>
                <a:lnTo>
                  <a:pt x="2241438" y="308198"/>
                </a:lnTo>
                <a:lnTo>
                  <a:pt x="0" y="308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906468" y="4439159"/>
            <a:ext cx="12475064" cy="2127250"/>
            <a:chOff x="0" y="0"/>
            <a:chExt cx="16633419" cy="283633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949741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Lim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itations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elatively small dataset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Limited data collection period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Self-collected data may introduce bias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Limited 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number of variables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8067797" y="-47625"/>
              <a:ext cx="8565622" cy="2883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Fu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ture Work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Expand dataset over longer periods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clude weather and real-time traffic data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Apply more advanced ML models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</a:t>
              </a:r>
              <a:r>
                <a:rPr lang="en-US" sz="2499">
                  <a:solidFill>
                    <a:srgbClr val="C235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elop a real-time prediction dashboard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30290"/>
            <a:ext cx="3426420" cy="3426420"/>
          </a:xfrm>
          <a:custGeom>
            <a:avLst/>
            <a:gdLst/>
            <a:ahLst/>
            <a:cxnLst/>
            <a:rect r="r" b="b" t="t" l="l"/>
            <a:pathLst>
              <a:path h="3426420" w="3426420">
                <a:moveTo>
                  <a:pt x="0" y="0"/>
                </a:moveTo>
                <a:lnTo>
                  <a:pt x="3426420" y="0"/>
                </a:lnTo>
                <a:lnTo>
                  <a:pt x="3426420" y="3426420"/>
                </a:lnTo>
                <a:lnTo>
                  <a:pt x="0" y="3426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861580" y="3430290"/>
            <a:ext cx="3426420" cy="3426420"/>
          </a:xfrm>
          <a:custGeom>
            <a:avLst/>
            <a:gdLst/>
            <a:ahLst/>
            <a:cxnLst/>
            <a:rect r="r" b="b" t="t" l="l"/>
            <a:pathLst>
              <a:path h="3426420" w="3426420">
                <a:moveTo>
                  <a:pt x="3426420" y="0"/>
                </a:moveTo>
                <a:lnTo>
                  <a:pt x="0" y="0"/>
                </a:lnTo>
                <a:lnTo>
                  <a:pt x="0" y="3426420"/>
                </a:lnTo>
                <a:lnTo>
                  <a:pt x="3426420" y="3426420"/>
                </a:lnTo>
                <a:lnTo>
                  <a:pt x="3426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46704" y="2783355"/>
            <a:ext cx="7594592" cy="278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1"/>
              </a:lnSpc>
            </a:pPr>
            <a:r>
              <a:rPr lang="en-US" sz="16236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83002" y="4815334"/>
            <a:ext cx="7121996" cy="278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1"/>
              </a:lnSpc>
            </a:pPr>
            <a:r>
              <a:rPr lang="en-US" sz="16236">
                <a:solidFill>
                  <a:srgbClr val="C2352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475186" y="90288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75186" y="799238"/>
            <a:ext cx="3337629" cy="458924"/>
          </a:xfrm>
          <a:custGeom>
            <a:avLst/>
            <a:gdLst/>
            <a:ahLst/>
            <a:cxnLst/>
            <a:rect r="r" b="b" t="t" l="l"/>
            <a:pathLst>
              <a:path h="458924" w="3337629">
                <a:moveTo>
                  <a:pt x="0" y="0"/>
                </a:moveTo>
                <a:lnTo>
                  <a:pt x="3337628" y="0"/>
                </a:lnTo>
                <a:lnTo>
                  <a:pt x="3337628" y="458924"/>
                </a:lnTo>
                <a:lnTo>
                  <a:pt x="0" y="458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DAHJvsoIz6w</dc:identifier>
  <dcterms:modified xsi:type="dcterms:W3CDTF">2011-08-01T06:04:30Z</dcterms:modified>
  <cp:revision>1</cp:revision>
  <dc:title>DSA 210</dc:title>
</cp:coreProperties>
</file>